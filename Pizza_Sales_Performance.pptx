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2E8B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Classic Deluxe</c:v>
                </c:pt>
                <c:pt idx="1">
                  <c:v>BBQ Chicken</c:v>
                </c:pt>
                <c:pt idx="2">
                  <c:v>Hawaiian</c:v>
                </c:pt>
                <c:pt idx="3">
                  <c:v>Pepperoni</c:v>
                </c:pt>
                <c:pt idx="4">
                  <c:v>Thai Chicken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2453</c:v>
                </c:pt>
                <c:pt idx="1">
                  <c:v>2432</c:v>
                </c:pt>
                <c:pt idx="2">
                  <c:v>2422</c:v>
                </c:pt>
                <c:pt idx="3">
                  <c:v>2418</c:v>
                </c:pt>
                <c:pt idx="4">
                  <c:v>2371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8-43D4-9D15-5E390F2A74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3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Soppressata</c:v>
                </c:pt>
                <c:pt idx="1">
                  <c:v>Spinach Sup.</c:v>
                </c:pt>
                <c:pt idx="2">
                  <c:v>Calabrese</c:v>
                </c:pt>
                <c:pt idx="3">
                  <c:v>Mediterranean</c:v>
                </c:pt>
                <c:pt idx="4">
                  <c:v>Brie Carre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961</c:v>
                </c:pt>
                <c:pt idx="1">
                  <c:v>950</c:v>
                </c:pt>
                <c:pt idx="2">
                  <c:v>937</c:v>
                </c:pt>
                <c:pt idx="3">
                  <c:v>934</c:v>
                </c:pt>
                <c:pt idx="4">
                  <c:v>490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1-4780-AE43-B723884EBE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AA5-4330-BB1D-39D80459B7C9}"/>
              </c:ext>
            </c:extLst>
          </c:dPt>
          <c:dPt>
            <c:idx val="1"/>
            <c:bubble3D val="0"/>
            <c:spPr>
              <a:solidFill>
                <a:srgbClr val="1A5C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A5-4330-BB1D-39D80459B7C9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A5-4330-BB1D-39D80459B7C9}"/>
              </c:ext>
            </c:extLst>
          </c:dPt>
          <c:dPt>
            <c:idx val="3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AA5-4330-BB1D-39D80459B7C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AA5-4330-BB1D-39D80459B7C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AA5-4330-BB1D-39D80459B7C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AA5-4330-BB1D-39D80459B7C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AA5-4330-BB1D-39D80459B7C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Classic</c:v>
                </c:pt>
                <c:pt idx="1">
                  <c:v>Supreme</c:v>
                </c:pt>
                <c:pt idx="2">
                  <c:v>Chicken</c:v>
                </c:pt>
                <c:pt idx="3">
                  <c:v>Veggie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26.91</c:v>
                </c:pt>
                <c:pt idx="1">
                  <c:v>25.46</c:v>
                </c:pt>
                <c:pt idx="2">
                  <c:v>23.96</c:v>
                </c:pt>
                <c:pt idx="3">
                  <c:v>23.68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AA5-4330-BB1D-39D80459B7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 cap="flat">
              <a:solidFill>
                <a:srgbClr val="2E8B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B2E"/>
              </a:solidFill>
              <a:ln w="9525" cap="flat">
                <a:solidFill>
                  <a:srgbClr val="2E8B2E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  <c:pt idx="10">
                  <c:v>19</c:v>
                </c:pt>
                <c:pt idx="11">
                  <c:v>20</c:v>
                </c:pt>
                <c:pt idx="12">
                  <c:v>21</c:v>
                </c:pt>
                <c:pt idx="13">
                  <c:v>22</c:v>
                </c:pt>
                <c:pt idx="14">
                  <c:v>23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</c:v>
                </c:pt>
                <c:pt idx="1">
                  <c:v>17</c:v>
                </c:pt>
                <c:pt idx="2">
                  <c:v>2672</c:v>
                </c:pt>
                <c:pt idx="3">
                  <c:v>6543</c:v>
                </c:pt>
                <c:pt idx="4">
                  <c:v>6203</c:v>
                </c:pt>
                <c:pt idx="5">
                  <c:v>3521</c:v>
                </c:pt>
                <c:pt idx="6">
                  <c:v>3170</c:v>
                </c:pt>
                <c:pt idx="7">
                  <c:v>4185</c:v>
                </c:pt>
                <c:pt idx="8">
                  <c:v>5143</c:v>
                </c:pt>
                <c:pt idx="9">
                  <c:v>5359</c:v>
                </c:pt>
                <c:pt idx="10">
                  <c:v>4350</c:v>
                </c:pt>
                <c:pt idx="11">
                  <c:v>3487</c:v>
                </c:pt>
                <c:pt idx="12">
                  <c:v>2528</c:v>
                </c:pt>
                <c:pt idx="13">
                  <c:v>1370</c:v>
                </c:pt>
                <c:pt idx="14">
                  <c:v>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04D-4A4B-A939-AE15652383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4748B"/>
                    </a:solidFill>
                    <a:latin typeface="Arial"/>
                  </a:rPr>
                  <a:t>Hour of Day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83-4C35-98A1-A560EA2A5CC4}"/>
              </c:ext>
            </c:extLst>
          </c:dPt>
          <c:dPt>
            <c:idx val="1"/>
            <c:invertIfNegative val="0"/>
            <c:bubble3D val="0"/>
            <c:spPr>
              <a:solidFill>
                <a:srgbClr val="2E8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83-4C35-98A1-A560EA2A5CC4}"/>
              </c:ext>
            </c:extLst>
          </c:dPt>
          <c:dPt>
            <c:idx val="2"/>
            <c:invertIfNegative val="0"/>
            <c:bubble3D val="0"/>
            <c:spPr>
              <a:solidFill>
                <a:srgbClr val="2E8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83-4C35-98A1-A560EA2A5CC4}"/>
              </c:ext>
            </c:extLst>
          </c:dPt>
          <c:dPt>
            <c:idx val="3"/>
            <c:invertIfNegative val="0"/>
            <c:bubble3D val="0"/>
            <c:spPr>
              <a:solidFill>
                <a:srgbClr val="2E8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83-4C35-98A1-A560EA2A5CC4}"/>
              </c:ext>
            </c:extLst>
          </c:dPt>
          <c:dPt>
            <c:idx val="4"/>
            <c:invertIfNegative val="0"/>
            <c:bubble3D val="0"/>
            <c:spPr>
              <a:solidFill>
                <a:srgbClr val="2E8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83-4C35-98A1-A560EA2A5CC4}"/>
              </c:ext>
            </c:extLst>
          </c:dPt>
          <c:dPt>
            <c:idx val="5"/>
            <c:invertIfNegative val="0"/>
            <c:bubble3D val="0"/>
            <c:spPr>
              <a:solidFill>
                <a:srgbClr val="1A5C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483-4C35-98A1-A560EA2A5CC4}"/>
              </c:ext>
            </c:extLst>
          </c:dPt>
          <c:dPt>
            <c:idx val="6"/>
            <c:invertIfNegative val="0"/>
            <c:bubble3D val="0"/>
            <c:spPr>
              <a:solidFill>
                <a:srgbClr val="2E8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483-4C35-98A1-A560EA2A5C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5917</c:v>
                </c:pt>
                <c:pt idx="1">
                  <c:v>6369</c:v>
                </c:pt>
                <c:pt idx="2">
                  <c:v>6753</c:v>
                </c:pt>
                <c:pt idx="3">
                  <c:v>6797</c:v>
                </c:pt>
                <c:pt idx="4">
                  <c:v>7323</c:v>
                </c:pt>
                <c:pt idx="5">
                  <c:v>8106</c:v>
                </c:pt>
                <c:pt idx="6">
                  <c:v>7355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483-4C35-98A1-A560EA2A5C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5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74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548640"/>
            <a:ext cx="3200400" cy="3200400"/>
          </a:xfrm>
          <a:prstGeom prst="ellipse">
            <a:avLst/>
          </a:prstGeom>
          <a:solidFill>
            <a:srgbClr val="2E8B2E">
              <a:alpha val="15000"/>
            </a:srgbClr>
          </a:solidFill>
          <a:ln w="12700">
            <a:solidFill>
              <a:srgbClr val="2E8B2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822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🍕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8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PIZZA FRESH &amp; TASTY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Performance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to grow smarter 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Garima Singh ·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 Report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Key Performance Highlights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920240" cy="73152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₹8,17,860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31089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E8F5E9"/>
          </a:solidFill>
          <a:ln w="6350">
            <a:solidFill>
              <a:srgbClr val="2E8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08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+12% vs last month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50592" y="118872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188720"/>
            <a:ext cx="1920240" cy="73152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50592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50592" y="2286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12,450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862072" y="31089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E8F5E9"/>
          </a:solidFill>
          <a:ln w="6350">
            <a:solidFill>
              <a:srgbClr val="2E8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62072" y="3108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+8% vs last month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26864" y="118872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188720"/>
            <a:ext cx="19202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🍕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26864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26864" y="2286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18,900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038344" y="31089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38344" y="3108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−3% vs last month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03136" y="118872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1188720"/>
            <a:ext cx="1920240" cy="73152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03136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03136" y="2286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₹650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214616" y="31089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E8F5E9"/>
          </a:solidFill>
          <a:ln w="6350">
            <a:solidFill>
              <a:srgbClr val="2E8B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14616" y="3108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+5% vs last month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2E8B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Revenue outpacing orders signals an upselling trend — customers are choosing higher-value items.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🍕  Product Performance — Best &amp; Worst Sellers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Top 5 Best Sellers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371600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Bottom 5 Least Sellers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663440" y="1371600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572000" y="1005840"/>
            <a:ext cx="0" cy="3840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4663440" y="4526280"/>
            <a:ext cx="4297680" cy="411480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0" y="4526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Brie Carre Pizza sells 5× less than #1 — immediate review needed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🏷️  Revenue by Pizza Category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45720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097280"/>
            <a:ext cx="3749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120640" y="1097280"/>
            <a:ext cx="73152" cy="804672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57800" y="11338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1133856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A5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26.91%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57800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earner — protect &amp; promote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120640" y="2057400"/>
            <a:ext cx="3749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0" y="2057400"/>
            <a:ext cx="73152" cy="804672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7800" y="20939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Supreme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0" y="2093976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A5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25.46%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57800" y="2441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performer, upsell opportunity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120640" y="3017520"/>
            <a:ext cx="3749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20640" y="3017520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30540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Chicken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63840" y="3054096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23.96%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257800" y="34015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base — bundle with sides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120640" y="3977640"/>
            <a:ext cx="3749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120640" y="3977640"/>
            <a:ext cx="73152" cy="8046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Veggie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63840" y="4014216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23.68%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25780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competitive — monitor trends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2E8B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All four categories are within 3.2% of each other — no single category dominates. Balanced but fragile.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⏰  Orders by Hour of Day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8595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228600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22452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Morning: Near-zero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11 AM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200400" y="4206240"/>
            <a:ext cx="228600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1A5C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46120" y="422452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Lunch Peak: 12–1 PM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6,543 orders at noon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852160" y="4206240"/>
            <a:ext cx="274320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1A5C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422452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Dinner Spike: 17–18 hrs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5,143–5,359 orders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Orders by Day of Week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669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143000"/>
            <a:ext cx="2651760" cy="749808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09360" y="1179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Peak Day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09360" y="1417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Friday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161848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8,106 orders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17920" y="2057400"/>
            <a:ext cx="2651760" cy="749808"/>
          </a:xfrm>
          <a:prstGeom prst="rect">
            <a:avLst/>
          </a:prstGeom>
          <a:solidFill>
            <a:srgbClr val="FDECE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20939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Slowest Day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09360" y="2331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09360" y="253288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5,917 orders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2971800"/>
            <a:ext cx="2651760" cy="749808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30083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Weekend Avg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09360" y="32461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7,730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344728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Fri–Sat avg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3886200"/>
            <a:ext cx="2651760" cy="749808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09360" y="39227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Weekday Avg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09360" y="41605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6,632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9360" y="436168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Mon–Thu avg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Strategic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173736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743200" cy="54864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⏰ 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Maximise Lunch Rush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up fully 12–1 PM. Pre-prep top-5 pizzas before noon. Launch a "Lunch Deal" bundle.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743200" cy="173736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97280"/>
            <a:ext cx="2743200" cy="54864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07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🌆 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Dinner Window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184708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"Dinner for 2" combo at 17–19 hrs. Free delivery can convert moderate demand to high.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097280"/>
            <a:ext cx="2743200" cy="173736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097280"/>
            <a:ext cx="2743200" cy="54864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207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8776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Activate Sunday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08776" y="184708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"Sunday Special" — loyalty points multiplier or discounted combo to close the 15% gap.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063240"/>
            <a:ext cx="2743200" cy="173736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063240"/>
            <a:ext cx="2743200" cy="54864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729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 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Leverage Fri–Sat Peak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38130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Limited-edition weekend pizzas or combo deals exclusively for Friday &amp; Saturday.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3063240"/>
            <a:ext cx="2743200" cy="173736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3063240"/>
            <a:ext cx="2743200" cy="54864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1729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64408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Brie Carre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64408" y="38130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 with new recipe, run a targeted promo, or remove from the menu entirely.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3063240"/>
            <a:ext cx="2743200" cy="173736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3063240"/>
            <a:ext cx="2743200" cy="54864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31729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08776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Upselling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08776" y="38130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XL/XXL upgrades at checkout. Revenue (+12%) already outpacing orders (+8%).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27432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dirty="0">
                <a:solidFill>
                  <a:srgbClr val="000000">
                    <a:alpha val="10000"/>
                  </a:srgbClr>
                </a:solidFill>
              </a:rPr>
              <a:t>🍕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8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521208"/>
          </a:xfrm>
          <a:prstGeom prst="rect">
            <a:avLst/>
          </a:prstGeom>
          <a:solidFill>
            <a:srgbClr val="2E8B2E">
              <a:alpha val="12000"/>
            </a:srgbClr>
          </a:solidFill>
          <a:ln w="6350">
            <a:solidFill>
              <a:srgbClr val="2E8B2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47548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+12% — strong growth momentum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18488"/>
            <a:ext cx="4937760" cy="521208"/>
          </a:xfrm>
          <a:prstGeom prst="rect">
            <a:avLst/>
          </a:prstGeom>
          <a:solidFill>
            <a:srgbClr val="2E8B2E">
              <a:alpha val="6000"/>
            </a:srgbClr>
          </a:solidFill>
          <a:ln w="6350">
            <a:solidFill>
              <a:srgbClr val="2E8B2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18488"/>
            <a:ext cx="47548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Avg Order Value up to ₹650 (+5%) — upselling is working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31136"/>
            <a:ext cx="4937760" cy="521208"/>
          </a:xfrm>
          <a:prstGeom prst="rect">
            <a:avLst/>
          </a:prstGeom>
          <a:solidFill>
            <a:srgbClr val="2E8B2E">
              <a:alpha val="12000"/>
            </a:srgbClr>
          </a:solidFill>
          <a:ln w="6350">
            <a:solidFill>
              <a:srgbClr val="2E8B2E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31136"/>
            <a:ext cx="47548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12–1 PM generates disproportionate daily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43784"/>
            <a:ext cx="4937760" cy="521208"/>
          </a:xfrm>
          <a:prstGeom prst="rect">
            <a:avLst/>
          </a:prstGeom>
          <a:solidFill>
            <a:srgbClr val="2E8B2E">
              <a:alpha val="6000"/>
            </a:srgbClr>
          </a:solidFill>
          <a:ln w="6350">
            <a:solidFill>
              <a:srgbClr val="2E8B2E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43784"/>
            <a:ext cx="47548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Friday is peak day; Sunday needs activation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56432"/>
            <a:ext cx="4937760" cy="521208"/>
          </a:xfrm>
          <a:prstGeom prst="rect">
            <a:avLst/>
          </a:prstGeom>
          <a:solidFill>
            <a:srgbClr val="2E8B2E">
              <a:alpha val="12000"/>
            </a:srgbClr>
          </a:solidFill>
          <a:ln w="6350">
            <a:solidFill>
              <a:srgbClr val="2E8B2E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56432"/>
            <a:ext cx="47548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Brie Carre Pizza needs urgent menu review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069080"/>
            <a:ext cx="4937760" cy="521208"/>
          </a:xfrm>
          <a:prstGeom prst="rect">
            <a:avLst/>
          </a:prstGeom>
          <a:solidFill>
            <a:srgbClr val="2E8B2E">
              <a:alpha val="6000"/>
            </a:srgbClr>
          </a:solidFill>
          <a:ln w="6350">
            <a:solidFill>
              <a:srgbClr val="2E8B2E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69080"/>
            <a:ext cx="47548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All 4 categories within 3.2% — balanced portfolio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E8B2E"/>
          </a:solidFill>
          <a:ln w="12700">
            <a:solidFill>
              <a:srgbClr val="2E8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902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DataEdge Analytics  ·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turn your data into decisions.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to connect 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469</Words>
  <Application>Microsoft Office PowerPoint</Application>
  <PresentationFormat>On-screen Show (16:9)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Dashboard - LinkedIn Deck</dc:title>
  <dc:subject>PptxGenJS Presentation</dc:subject>
  <dc:creator>DataEdge Analytics</dc:creator>
  <cp:lastModifiedBy>Garima Singh</cp:lastModifiedBy>
  <cp:revision>2</cp:revision>
  <dcterms:created xsi:type="dcterms:W3CDTF">2026-04-25T04:58:36Z</dcterms:created>
  <dcterms:modified xsi:type="dcterms:W3CDTF">2026-04-25T05:06:22Z</dcterms:modified>
</cp:coreProperties>
</file>